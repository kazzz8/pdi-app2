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194560"/>
            <a:ext cx="9144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現場作業管理システム（仮称）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游ゴシック"/>
              </a:rPr>
              <a:t>システム概要説明資料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  <a:latin typeface="游ゴシック"/>
              </a:rPr>
              <a:t>機能・画面構成・技術スタック・インフラ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AACC"/>
                </a:solidFill>
                <a:latin typeface="游ゴシック"/>
              </a:rPr>
              <a:t>2026年4月　情報システム部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１．システム概要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4924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371600" cy="12801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325880"/>
            <a:ext cx="3794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完成車のPDI（出荷前整備）作業における記録・報告業務を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スマートフォン・タブレット1台で完結させる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4924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1371600" cy="128016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対象業務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325880"/>
            <a:ext cx="3794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車両入庫から出庫までの全作業工程（14種類）の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作業時間記録・点検報告・不具合管理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34924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371600" cy="128016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利用者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88920"/>
            <a:ext cx="3794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現場作業者・班長・管理者　計 200〜300名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06040"/>
            <a:ext cx="534924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1371600" cy="12801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動作環境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88920"/>
            <a:ext cx="3794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社内ネットワーク内のWindows Serverで稼働する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PWA（Progressive Web App）。専用アプリのインストール不要。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solidFill>
            <a:srgbClr val="FFFBE6"/>
          </a:solidFill>
          <a:ln w="9525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7D5A00"/>
                </a:solidFill>
                <a:latin typeface="游ゴシック"/>
              </a:rPr>
              <a:t>PWAとは：Webブラウザで動作しながらスマートフォンのネイティブアプリに近い操作感を実現する技術。App Storeからのインストール不要で、ブラウザのアドレスバーからアクセスするだけで利用できる。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２．対応する業務工程（14工程）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56032" cy="777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1615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積み込み・降ろし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184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LOADING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43000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256032" cy="777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21615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保管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6184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256032" cy="777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21615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回送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16184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43000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143000"/>
            <a:ext cx="256032" cy="77724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21615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洗車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16184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WASH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21408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121408"/>
            <a:ext cx="256032" cy="77724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1945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磨き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59689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POLISH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121408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2121408"/>
            <a:ext cx="256032" cy="7772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21945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L点検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259689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L_INSPECTION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21408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121408"/>
            <a:ext cx="256032" cy="7772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1945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S点検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59689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S_INSPECTION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121408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121408"/>
            <a:ext cx="256032" cy="7772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21945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補修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259689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REPAIR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99816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099816"/>
            <a:ext cx="256032" cy="77724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17296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防錆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3575304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RUST_PREVENTION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099816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3099816"/>
            <a:ext cx="256032" cy="77724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30752" y="317296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ドレスアップ部品払い出し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0752" y="3575304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PARTS_ISSUE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099816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099816"/>
            <a:ext cx="256032" cy="77724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317296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ドレスアップ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3575304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DRESS_UP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099816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3099816"/>
            <a:ext cx="256032" cy="77724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82912" y="317296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コーティング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2912" y="3575304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COATING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078224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078224"/>
            <a:ext cx="256032" cy="7772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151376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完成検査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45537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FINAL_INSPECTION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80" y="4078224"/>
            <a:ext cx="2651760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83280" y="4078224"/>
            <a:ext cx="256032" cy="777240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30752" y="4151376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游ゴシック"/>
              </a:rPr>
              <a:t>その他（計画外）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0752" y="45537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游ゴシック"/>
              </a:rPr>
              <a:t>OTHER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989320"/>
            <a:ext cx="164592" cy="20116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入庫・保管・搬送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7480" y="5989320"/>
            <a:ext cx="164592" cy="201168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整備・防錆・コーティング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0" y="5989320"/>
            <a:ext cx="164592" cy="20116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点検・完成検査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8040" y="5989320"/>
            <a:ext cx="164592" cy="201168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補修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5989320"/>
            <a:ext cx="164592" cy="20116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46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ドレスアップ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３．利用者とロール（権限区分）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3520440" cy="4754880"/>
          </a:xfrm>
          <a:prstGeom prst="rect">
            <a:avLst/>
          </a:prstGeom>
          <a:solidFill>
            <a:srgbClr val="F2F4F8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520440" cy="82296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一般作業者
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2194560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本日の作業一覧を確認する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724912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バーコードスキャンで車両を確認して作業を開始する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255264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1810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作業タイマーを操作する（開始・中断・再開・完了）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3785616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48456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L点検・S点検の不具合を展開図に記録する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315968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7880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不具合箇所の写真を撮影・登録する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846320"/>
            <a:ext cx="109728" cy="10972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計画外作業を自ら開始する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E8B4C"/>
                </a:solidFill>
                <a:latin typeface="游ゴシック"/>
              </a:rPr>
              <a:t>最も多い利用者層。現場での操作をスマホで完結。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097280"/>
            <a:ext cx="3520440" cy="4754880"/>
          </a:xfrm>
          <a:prstGeom prst="rect">
            <a:avLst/>
          </a:prstGeom>
          <a:solidFill>
            <a:srgbClr val="F2F4F8"/>
          </a:solidFill>
          <a:ln w="12700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097280"/>
            <a:ext cx="3520440" cy="8229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班長
TEAM_LEADER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194560"/>
            <a:ext cx="109728" cy="10972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一般作業者の全機能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2724912"/>
            <a:ext cx="109728" cy="10972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58775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チームメンバーの作業進捗をリアルタイムで確認する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255264"/>
            <a:ext cx="109728" cy="10972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11810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作業計画の調整・割り当て変更を行う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785616"/>
            <a:ext cx="109728" cy="10972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648456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不具合の状況を集約して確認する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12064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チーム単位の進捗管理・作業指示を担当。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1097280"/>
            <a:ext cx="3520440" cy="4754880"/>
          </a:xfrm>
          <a:prstGeom prst="rect">
            <a:avLst/>
          </a:prstGeom>
          <a:solidFill>
            <a:srgbClr val="F2F4F8"/>
          </a:solidFill>
          <a:ln w="127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1097280"/>
            <a:ext cx="3520440" cy="8229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</a:rPr>
              <a:t>管理者
MANAGER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2194560"/>
            <a:ext cx="109728" cy="10972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05740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班長の全機能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2724912"/>
            <a:ext cx="109728" cy="10972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258775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ユーザーアカウントを作成・管理する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5592" y="3255264"/>
            <a:ext cx="109728" cy="10972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118104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作業計画データをCSV等でインポートする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5592" y="3785616"/>
            <a:ext cx="109728" cy="10972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648456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全チームの作業実績・KPIを集計・出力する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65592" y="4315968"/>
            <a:ext cx="109728" cy="10972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17880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システム設定・マスタデータを管理する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12064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全体管理・データ分析・システム運用を担当。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４．画面フロー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011680"/>
            <a:ext cx="1920240" cy="1828800"/>
          </a:xfrm>
          <a:prstGeom prst="rect">
            <a:avLst/>
          </a:prstGeom>
          <a:solidFill>
            <a:srgbClr val="F2F4F8"/>
          </a:solidFill>
          <a:ln w="1524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011680"/>
            <a:ext cx="19202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ログイン画面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737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社員番号＋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パスワード入力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97480"/>
            <a:ext cx="256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2011680"/>
            <a:ext cx="1920240" cy="1828800"/>
          </a:xfrm>
          <a:prstGeom prst="rect">
            <a:avLst/>
          </a:prstGeom>
          <a:solidFill>
            <a:srgbClr val="F2F4F8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79192" y="2011680"/>
            <a:ext cx="1920240" cy="50292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ダッシュボード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606040"/>
            <a:ext cx="1737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本日の作業一覧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ステータス確認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256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6904" y="2011680"/>
            <a:ext cx="1920240" cy="1828800"/>
          </a:xfrm>
          <a:prstGeom prst="rect">
            <a:avLst/>
          </a:prstGeom>
          <a:solidFill>
            <a:srgbClr val="F2F4F8"/>
          </a:solidFill>
          <a:ln w="15240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46904" y="2011680"/>
            <a:ext cx="1920240" cy="50292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作業開始確認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2606040"/>
            <a:ext cx="1737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バーコードスキャン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で車両照合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2697480"/>
            <a:ext cx="256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4616" y="2011680"/>
            <a:ext cx="1920240" cy="1828800"/>
          </a:xfrm>
          <a:prstGeom prst="rect">
            <a:avLst/>
          </a:prstGeom>
          <a:solidFill>
            <a:srgbClr val="F2F4F8"/>
          </a:solidFill>
          <a:ln w="15240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14616" y="2011680"/>
            <a:ext cx="1920240" cy="50292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作業中画面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2606040"/>
            <a:ext cx="1737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タイマー計測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展開図・不具合記録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697480"/>
            <a:ext cx="256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2011680"/>
            <a:ext cx="1920240" cy="1828800"/>
          </a:xfrm>
          <a:prstGeom prst="rect">
            <a:avLst/>
          </a:prstGeom>
          <a:solidFill>
            <a:srgbClr val="F2F4F8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82328" y="2011680"/>
            <a:ext cx="1920240" cy="50292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完了画面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606040"/>
            <a:ext cx="1737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点検報告書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游ゴシック"/>
              </a:rPr>
              <a:t>確認・保存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4069080"/>
            <a:ext cx="2743200" cy="1554480"/>
          </a:xfrm>
          <a:prstGeom prst="rect">
            <a:avLst/>
          </a:prstGeom>
          <a:solidFill>
            <a:srgbClr val="FFFBE6"/>
          </a:solidFill>
          <a:ln w="9525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4069080"/>
            <a:ext cx="2743200" cy="45720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一時中断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5720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中断理由を選択・入力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ダッシュボードに戻る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↓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再開ボタンから作業を継続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747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06A00"/>
                </a:solidFill>
                <a:latin typeface="游ゴシック"/>
              </a:rPr>
              <a:t>↕ 中断/再開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游ゴシック"/>
              </a:rPr>
              <a:t>※ 計画外作業はダッシュボードから直接「作業中画面」に遷移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５．主要機能 ①　ダッシュボード・作業管理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ダッシュボード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1440" cy="914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本日割り当てられた作業計画を一覧表示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58568"/>
            <a:ext cx="91440" cy="914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各作業のステータスをリアルタイムで表示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34056"/>
            <a:ext cx="91440" cy="914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42616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計画外作業をその場で開始できる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09544"/>
            <a:ext cx="91440" cy="9144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1810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中断中の作業がある場合はバナーで通知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游ゴシック"/>
              </a:rPr>
              <a:t>ステータス表示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14800"/>
            <a:ext cx="777240" cy="27432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777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作業が完了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17136"/>
            <a:ext cx="777240" cy="274320"/>
          </a:xfrm>
          <a:prstGeom prst="rect">
            <a:avLst/>
          </a:prstGeom>
          <a:solidFill>
            <a:srgbClr val="256BBE"/>
          </a:solidFill>
          <a:ln>
            <a:solidFill>
              <a:srgbClr val="256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17136"/>
            <a:ext cx="777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作業中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現在進行中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19472"/>
            <a:ext cx="777240" cy="274320"/>
          </a:xfrm>
          <a:prstGeom prst="rect">
            <a:avLst/>
          </a:prstGeom>
          <a:solidFill>
            <a:srgbClr val="CA8500"/>
          </a:solidFill>
          <a:ln>
            <a:solidFill>
              <a:srgbClr val="CA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19472"/>
            <a:ext cx="777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中断中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一時停止中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321808"/>
            <a:ext cx="777240" cy="2743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21808"/>
            <a:ext cx="777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遅延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218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計画時間超過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724144"/>
            <a:ext cx="777240" cy="274320"/>
          </a:xfrm>
          <a:prstGeom prst="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724144"/>
            <a:ext cx="777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予定通り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724144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未着手・計画内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051560"/>
            <a:ext cx="27432" cy="5029200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車両バーコードスキャン（作業開始時）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691640"/>
            <a:ext cx="1005840" cy="50292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目的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作業対象の車両と作業計画が一致することを確認する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496312"/>
            <a:ext cx="1005840" cy="50292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操作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542032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作業開始ボタンを押す → カメラが起動 → バーコードにかざす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300984"/>
            <a:ext cx="1005840" cy="50292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判定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346704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スキャン結果と計画の整理番号が一致した場合のみ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「作業開始」ボタンが活性化する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05656"/>
            <a:ext cx="1005840" cy="50292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不一致時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151376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エラー表示。再スキャンを促す。誤った車両への作業を防止する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５．主要機能 ②　作業タイマー・進捗管理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リアルタイム作業タイマー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8872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計測方式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作業開始と同時にタイマーが自動スタート。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一時中断・再開の累積時間を自動計算する。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18872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表示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作業中画面に「MM:SS」形式で経過時間を大きく表示。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118872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超過警告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4904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標準作業時間を超過した場合、タイマーが赤色に変化し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「超過中」の警告を表示する。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09160"/>
            <a:ext cx="118872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データ保存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75488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完了時に開始時刻・終了時刻・累積作業時間をDBに記録。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27432" cy="5029200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一時中断・再開機能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1188720" cy="5943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中断理由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3736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班長対応・緊急補修・部品待ち・休憩・その他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（定型選択 or 自由入力）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97480"/>
            <a:ext cx="1188720" cy="5943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再開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ダッシュボードの「再開」ボタンから前回の続きで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作業を再開できる。累積時間は引き継がれる。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188720" cy="5943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同時中断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4904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複数の中断中作業を持てないよう制御されている。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（誤操作・二重記録の防止）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709160"/>
            <a:ext cx="1188720" cy="59436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記録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754880"/>
            <a:ext cx="4023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中断理由・中断時刻・再開時刻をすべてDBに記録。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班長・管理者が後から確認できる。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５．主要機能 ③　不具合記録（L点検・S点検）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車両展開図タップ入力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01368"/>
            <a:ext cx="91440" cy="91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車両の展開図（上面・側面・前後）を画面に表示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04288"/>
            <a:ext cx="91440" cy="91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不具合箇所をタップしてピンを立てる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807208"/>
            <a:ext cx="91440" cy="91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ピンはA/B/C程度ごとに色分けして表示（黄・橙・赤）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10128"/>
            <a:ext cx="91440" cy="91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ピンをタップすると記録済みの不具合詳細が表示される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813048"/>
            <a:ext cx="91440" cy="9144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不具合は何件でも登録可能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5029200" cy="146304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663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888888"/>
                </a:solidFill>
                <a:latin typeface="游ゴシック"/>
              </a:rPr>
              <a:t>【展開図イメージ】</a:t>
            </a:r>
          </a:p>
          <a:p>
            <a:pPr algn="ctr"/>
            <a:r>
              <a:rPr sz="950" b="0">
                <a:solidFill>
                  <a:srgbClr val="888888"/>
                </a:solidFill>
                <a:latin typeface="游ゴシック"/>
              </a:rPr>
              <a:t>前面 ／ 左側面 ／ 後面 ／ 右側面 ／ 上面 を1画面で表示</a:t>
            </a:r>
          </a:p>
          <a:p>
            <a:pPr algn="ctr"/>
            <a:r>
              <a:rPr sz="950" b="0">
                <a:solidFill>
                  <a:srgbClr val="888888"/>
                </a:solidFill>
                <a:latin typeface="游ゴシック"/>
              </a:rPr>
              <a:t>タップした座標をX%・Y%で記録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051560"/>
            <a:ext cx="27432" cy="5029200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不具合記録項目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1828800" cy="548640"/>
          </a:xfrm>
          <a:prstGeom prst="rect">
            <a:avLst/>
          </a:prstGeom>
          <a:solidFill>
            <a:srgbClr val="FFEEE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不具合種類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線傷 / 面傷 / 塗装 / へこみ / 欠け / 汚れ / その他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（ボタン選択）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87752"/>
            <a:ext cx="1828800" cy="548640"/>
          </a:xfrm>
          <a:prstGeom prst="rect">
            <a:avLst/>
          </a:prstGeom>
          <a:solidFill>
            <a:srgbClr val="FFEEE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程度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33472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A（軽微）/ B（中程度）/ C（重大）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（ボタン選択。展開図ピンの色に反映される）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83864"/>
            <a:ext cx="1828800" cy="548640"/>
          </a:xfrm>
          <a:prstGeom prst="rect">
            <a:avLst/>
          </a:prstGeom>
          <a:solidFill>
            <a:srgbClr val="FFEEE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補修見込み時間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29584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10・30・60・90・120分のプリセット + 5分刻みの手動調整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379976"/>
            <a:ext cx="1828800" cy="548640"/>
          </a:xfrm>
          <a:prstGeom prst="rect">
            <a:avLst/>
          </a:prstGeom>
          <a:solidFill>
            <a:srgbClr val="FFEEE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写真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25696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スマホカメラで撮影（任意）。JPEG圧縮してサーバーに保存。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276088"/>
            <a:ext cx="1828800" cy="548640"/>
          </a:xfrm>
          <a:prstGeom prst="rect">
            <a:avLst/>
          </a:prstGeom>
          <a:solidFill>
            <a:srgbClr val="FFEEEE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座標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21808"/>
            <a:ext cx="3429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展開図上のタップ位置をX%・Y%で自動記録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６．技術スタック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560320" cy="4206240"/>
          </a:xfrm>
          <a:prstGeom prst="rect">
            <a:avLst/>
          </a:prstGeom>
          <a:solidFill>
            <a:srgbClr val="F2F4F8"/>
          </a:solidFill>
          <a:ln w="127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2560320" cy="4572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フロントエンド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フレームワーク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Next.js 15（App Router）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言語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スタイル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46704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Tailwind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30752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8561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PWA対応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59936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manifest.json・Service Worker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988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3A6B"/>
                </a:solidFill>
                <a:latin typeface="游ゴシック"/>
              </a:rPr>
              <a:t>バーコード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カメラAPI（ブラウザ標準）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097280"/>
            <a:ext cx="2560320" cy="4206240"/>
          </a:xfrm>
          <a:prstGeom prst="rect">
            <a:avLst/>
          </a:prstGeom>
          <a:solidFill>
            <a:srgbClr val="F2F4F8"/>
          </a:solidFill>
          <a:ln w="12700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097280"/>
            <a:ext cx="2560320" cy="45720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バックエンド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6459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6E75"/>
                </a:solidFill>
                <a:latin typeface="游ゴシック"/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92024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Next.js API Routes（サーバーサイド）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304288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3591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6E75"/>
                </a:solidFill>
                <a:latin typeface="游ゴシック"/>
              </a:rPr>
              <a:t>認証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633472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NextAuth.js + bcrypt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017520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07238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6E75"/>
                </a:solidFill>
                <a:latin typeface="游ゴシック"/>
              </a:rPr>
              <a:t>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346704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Prisma（TypeScript対応）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730752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78561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6E75"/>
                </a:solidFill>
                <a:latin typeface="游ゴシック"/>
              </a:rPr>
              <a:t>セッション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059936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JWT（サーバーサイドで管理）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4443984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4988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6E75"/>
                </a:solidFill>
                <a:latin typeface="游ゴシック"/>
              </a:rPr>
              <a:t>ファイル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77316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写真アップロードAPI（サーバー保存）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097280"/>
            <a:ext cx="2560320" cy="4206240"/>
          </a:xfrm>
          <a:prstGeom prst="rect">
            <a:avLst/>
          </a:prstGeom>
          <a:solidFill>
            <a:srgbClr val="F2F4F8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1097280"/>
            <a:ext cx="2560320" cy="45720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データベース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6459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B4C"/>
                </a:solidFill>
                <a:latin typeface="游ゴシック"/>
              </a:rPr>
              <a:t>DBMS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92024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PostgreSQL（移行時にSQL Serverも対応可）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304288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3591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B4C"/>
                </a:solidFill>
                <a:latin typeface="游ゴシック"/>
              </a:rPr>
              <a:t>主要テーブル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633472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Vehicle / WorkPlan / WorkLog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InspectionReport / Defect / User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017520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07238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B4C"/>
                </a:solidFill>
                <a:latin typeface="游ゴシック"/>
              </a:rPr>
              <a:t>マイグレーション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346704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Prisma Migrate（バージョン管理済み）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730752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78561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B4C"/>
                </a:solidFill>
                <a:latin typeface="游ゴシック"/>
              </a:rPr>
              <a:t>シード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059936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初期データ投入スクリプト完備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5400" y="1097280"/>
            <a:ext cx="2560320" cy="4206240"/>
          </a:xfrm>
          <a:prstGeom prst="rect">
            <a:avLst/>
          </a:prstGeom>
          <a:solidFill>
            <a:srgbClr val="F2F4F8"/>
          </a:solidFill>
          <a:ln w="12700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15400" y="1097280"/>
            <a:ext cx="2560320" cy="45720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インフラ（予定）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164592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1920240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Windows Server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2304288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235915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Webサーバー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2633472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IIS（リバースプロキシ）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3017520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307238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プロセス管理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3346704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PM2 または NSSM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3730752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378561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Node.js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4059936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v20 LTS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4443984"/>
            <a:ext cx="2377440" cy="9144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0" y="44988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06A00"/>
                </a:solidFill>
                <a:latin typeface="游ゴシック"/>
              </a:rPr>
              <a:t>SSL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477316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社内CA発行証明書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７．システム構成（Windows Server 構成案）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280160"/>
            <a:ext cx="8046720" cy="4480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  <a:latin typeface="游ゴシック"/>
              </a:rPr>
              <a:t>Windows Server（社内）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43200"/>
            <a:ext cx="2468880" cy="128016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クライアント
（スマホ/タブレット）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0175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游ゴシック"/>
              </a:rPr>
              <a:t>HTTPS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游ゴシック"/>
              </a:rPr>
              <a:t>社内LAN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86000"/>
            <a:ext cx="3200400" cy="109728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IIS
（リバースプロキシ・SSL終端）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47472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931920"/>
            <a:ext cx="3200400" cy="1097280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Node.js + Next.js
（アプリケーションサーバー）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029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PM2 または NSSM でサービス化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434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931920"/>
            <a:ext cx="2560320" cy="1097280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PostgreSQL
（データベース）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2560320" cy="1097280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ファイルストレージ
（写真保存）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429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游ゴシック"/>
              </a:rPr>
              <a:t>\server\share\photos\ など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游ゴシック"/>
              </a:rPr>
              <a:t>※ DBはSQL Serverへの変更も対応可（Prismaのprovider設定変更のみ）</a:t>
            </a:r>
          </a:p>
          <a:p>
            <a:pPr algn="l"/>
            <a:r>
              <a:rPr sz="900" b="0">
                <a:solidFill>
                  <a:srgbClr val="666666"/>
                </a:solidFill>
                <a:latin typeface="游ゴシック"/>
              </a:rPr>
              <a:t>※ 社内Active Directoryと連携したSSO認証への移行も将来的に対応可能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８．データ管理（主要テーブルと情報の流れ）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148840" cy="29260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社員番号・氏名・ロール・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班情報を管理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143000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1143000"/>
            <a:ext cx="2148840" cy="292608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46304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班の名称と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メンバー構成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143000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1143000"/>
            <a:ext cx="2148840" cy="292608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Vehicle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46304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整理番号・バーコード・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車種・色・点検区分・状態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1143000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143000"/>
            <a:ext cx="2148840" cy="292608"/>
          </a:xfrm>
          <a:prstGeom prst="rect">
            <a:avLst/>
          </a:prstGeom>
          <a:solidFill>
            <a:srgbClr val="0E6E75"/>
          </a:solidFill>
          <a:ln>
            <a:solidFill>
              <a:srgbClr val="0E6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WorkPlan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誰がいつどの車両に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何の作業をするかの計画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039112"/>
            <a:ext cx="2148840" cy="29260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WorkLog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5915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作業の開始・中断・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再開・完了の実績記録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039112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88920" y="2039112"/>
            <a:ext cx="2148840" cy="292608"/>
          </a:xfrm>
          <a:prstGeom prst="rect">
            <a:avLst/>
          </a:prstGeom>
          <a:solidFill>
            <a:srgbClr val="1E8B4C"/>
          </a:solidFill>
          <a:ln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InspectionReport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35915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点検報告書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（点検種別・時間）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2039112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2039112"/>
            <a:ext cx="2148840" cy="292608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Defect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35915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不具合の箇所・種類・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程度・写真・補修状況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039112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2039112"/>
            <a:ext cx="2148840" cy="29260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RepairLog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35915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補修作業の実績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935224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935224"/>
            <a:ext cx="2148840" cy="292608"/>
          </a:xfrm>
          <a:prstGeom prst="rect">
            <a:avLst/>
          </a:prstGeom>
          <a:solidFill>
            <a:srgbClr val="D06A00"/>
          </a:solidFill>
          <a:ln>
            <a:solidFill>
              <a:srgbClr val="D0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255264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写真ファイルパスと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撮影者・日時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2935224"/>
            <a:ext cx="2148840" cy="713232"/>
          </a:xfrm>
          <a:prstGeom prst="rect">
            <a:avLst/>
          </a:prstGeom>
          <a:solidFill>
            <a:srgbClr val="F2F4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88920" y="2935224"/>
            <a:ext cx="2148840" cy="29260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</a:rPr>
              <a:t>ImportBatch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255264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作業計画の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游ゴシック"/>
              </a:rPr>
              <a:t>CSVインポート履歴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029200"/>
            <a:ext cx="11292840" cy="777240"/>
          </a:xfrm>
          <a:prstGeom prst="rect">
            <a:avLst/>
          </a:prstGeom>
          <a:solidFill>
            <a:srgbClr val="EAF0F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A3A6B"/>
                </a:solidFill>
                <a:latin typeface="游ゴシック"/>
              </a:rPr>
              <a:t>データの流れ：　ImportBatch（計画インポート）  →  WorkPlan（作業計画）  →  WorkLog（作業実績）  →  InspectionReport + Defect（点検・不具合記録）  →  RepairLog（補修）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9436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游ゴシック"/>
              </a:rPr>
              <a:t>※ すべてのレコードはUser（作業者）と紐付けられ、誰がいつ何をしたかを追跡可能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