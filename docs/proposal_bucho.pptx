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377440"/>
            <a:ext cx="914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游ゴシック"/>
              </a:rPr>
              <a:t>現場作業管理システム（仮称）</a:t>
            </a:r>
          </a:p>
          <a:p>
            <a:pPr algn="l"/>
            <a:r>
              <a:rPr sz="2700" b="1">
                <a:solidFill>
                  <a:srgbClr val="FFFFFF"/>
                </a:solidFill>
                <a:latin typeface="游ゴシック"/>
              </a:rPr>
              <a:t>導入提案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BCCEE"/>
                </a:solidFill>
                <a:latin typeface="游ゴシック"/>
              </a:rPr>
              <a:t>現場の二重入力・紙作業を解消し、作業記録を一元管理する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63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9AACC"/>
                </a:solidFill>
                <a:latin typeface="游ゴシック"/>
              </a:rPr>
              <a:t>2026年4月　情報システム部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</a:rPr>
              <a:t>１．現状の課題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3566160" cy="4206240"/>
          </a:xfrm>
          <a:prstGeom prst="rect">
            <a:avLst/>
          </a:prstGeom>
          <a:solidFill>
            <a:srgbClr val="FDFD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3566160" cy="54864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9304"/>
            <a:ext cx="3566160" cy="822960"/>
          </a:xfrm>
          <a:prstGeom prst="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0392B"/>
                </a:solidFill>
                <a:latin typeface="游ゴシック"/>
              </a:rPr>
              <a:t>課題①
三重の入力負担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21992"/>
            <a:ext cx="329184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作業完了・不具合の記録を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「紙」「自社システム」「マツダシステム」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の3箇所に個別入力している。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同じ情報を何度も入力する無駄が生じている。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34440"/>
            <a:ext cx="3566160" cy="4206240"/>
          </a:xfrm>
          <a:prstGeom prst="rect">
            <a:avLst/>
          </a:prstGeom>
          <a:solidFill>
            <a:srgbClr val="FDFD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66160" cy="54864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9304"/>
            <a:ext cx="3566160" cy="822960"/>
          </a:xfrm>
          <a:prstGeom prst="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0392B"/>
                </a:solidFill>
                <a:latin typeface="游ゴシック"/>
              </a:rPr>
              <a:t>課題②
共有PCへの移動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21992"/>
            <a:ext cx="329184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作業時間の報告には共有PCを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使用するため、作業場所から離れて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PC前に並ぶ時間が毎日発生している。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3566160" cy="4206240"/>
          </a:xfrm>
          <a:prstGeom prst="rect">
            <a:avLst/>
          </a:prstGeom>
          <a:solidFill>
            <a:srgbClr val="FDFDF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3566160" cy="54864"/>
          </a:xfrm>
          <a:prstGeom prst="rect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89304"/>
            <a:ext cx="3566160" cy="822960"/>
          </a:xfrm>
          <a:prstGeom prst="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0392B"/>
                </a:solidFill>
                <a:latin typeface="游ゴシック"/>
              </a:rPr>
              <a:t>課題③
自社システムの機能未達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221992"/>
            <a:ext cx="3291840" cy="3127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自社ベンダーシステムはマツダシステム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との自動連携を目的に導入されたが、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連携は現在も未実現のまま。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投資効果が十分に出ていない。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游ゴシック"/>
              </a:rPr>
              <a:t>※ 上記課題は作業者 200〜300名 全員に影響している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</a:rPr>
              <a:t>２．提案内容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游ゴシック"/>
              </a:rPr>
              <a:t>現場作業管理システム（仮称）の導入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5394960" cy="1920240"/>
          </a:xfrm>
          <a:prstGeom prst="rect">
            <a:avLst/>
          </a:prstGeom>
          <a:solidFill>
            <a:srgbClr val="EAF0F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411480" cy="1920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4114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800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  <a:latin typeface="游ゴシック"/>
              </a:rPr>
              <a:t>① スマートフォン・タブレットから</a:t>
            </a:r>
          </a:p>
          <a:p>
            <a:pPr algn="l"/>
            <a:r>
              <a:rPr sz="1100" b="1">
                <a:solidFill>
                  <a:srgbClr val="1A3A6B"/>
                </a:solidFill>
                <a:latin typeface="游ゴシック"/>
              </a:rPr>
              <a:t>　 その場で入力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共有PCへの移動が不要。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作業場所で即時記録が可能になる。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57400"/>
            <a:ext cx="5394960" cy="1920240"/>
          </a:xfrm>
          <a:prstGeom prst="rect">
            <a:avLst/>
          </a:prstGeom>
          <a:solidFill>
            <a:srgbClr val="EAF0F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57400"/>
            <a:ext cx="411480" cy="1920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114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67128"/>
            <a:ext cx="4800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  <a:latin typeface="游ゴシック"/>
              </a:rPr>
              <a:t>② 作業記録を1システムに一元化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92608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作業時間・完了報告・不具合情報を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1回の入力で完結する。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394960" cy="1920240"/>
          </a:xfrm>
          <a:prstGeom prst="rect">
            <a:avLst/>
          </a:prstGeom>
          <a:solidFill>
            <a:srgbClr val="EAF0F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411480" cy="1920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4114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70248"/>
            <a:ext cx="4800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  <a:latin typeface="游ゴシック"/>
              </a:rPr>
              <a:t>③ 不具合写真のその場撮影・記録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2920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紙への記載が不要。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写真とともに正確に記録できる。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60520"/>
            <a:ext cx="5394960" cy="1920240"/>
          </a:xfrm>
          <a:prstGeom prst="rect">
            <a:avLst/>
          </a:prstGeom>
          <a:solidFill>
            <a:srgbClr val="EAF0F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160520"/>
            <a:ext cx="411480" cy="192024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60520"/>
            <a:ext cx="41148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游ゴシック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270248"/>
            <a:ext cx="4800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  <a:latin typeface="游ゴシック"/>
              </a:rPr>
              <a:t>④ 情報システム部による内製開発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5029200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追加のベンダーコストは発生しない。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現場ニーズに合わせた柔軟な改修が可能。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</a:rPr>
              <a:t>３．期待される効果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73736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区分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143000"/>
            <a:ext cx="512064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143000"/>
            <a:ext cx="438912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游ゴシック"/>
              </a:rPr>
              <a:t>補足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737360" cy="960120"/>
          </a:xfrm>
          <a:prstGeom prst="rect">
            <a:avLst/>
          </a:prstGeom>
          <a:solidFill>
            <a:srgbClr val="F2F4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1463040" cy="411480"/>
          </a:xfrm>
          <a:prstGeom prst="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工数削減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645920"/>
            <a:ext cx="5120640" cy="960120"/>
          </a:xfrm>
          <a:prstGeom prst="rect">
            <a:avLst/>
          </a:prstGeom>
          <a:solidFill>
            <a:srgbClr val="F2F4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755648"/>
            <a:ext cx="4937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333333"/>
                </a:solidFill>
                <a:latin typeface="游ゴシック"/>
              </a:rPr>
              <a:t>1人あたり1日 約5〜10分 の入力時間を削減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645920"/>
            <a:ext cx="4389120" cy="960120"/>
          </a:xfrm>
          <a:prstGeom prst="rect">
            <a:avLst/>
          </a:prstGeom>
          <a:solidFill>
            <a:srgbClr val="F2F4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24928" y="1755648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200名換算で年間 約1,700〜3,300時間 の削減試算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1737360" cy="9601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1463040" cy="411480"/>
          </a:xfrm>
          <a:prstGeom prst="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品質向上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606040"/>
            <a:ext cx="5120640" cy="9601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2715768"/>
            <a:ext cx="4937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紙とシステムの転記ミス・記入漏れを防止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606040"/>
            <a:ext cx="4389120" cy="9601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8" y="2715768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不具合記録の抜け漏れが減少し、品質管理が向上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1737360" cy="960120"/>
          </a:xfrm>
          <a:prstGeom prst="rect">
            <a:avLst/>
          </a:prstGeom>
          <a:solidFill>
            <a:srgbClr val="F2F4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840480"/>
            <a:ext cx="1463040" cy="411480"/>
          </a:xfrm>
          <a:prstGeom prst="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392B"/>
                </a:solidFill>
                <a:latin typeface="游ゴシック"/>
              </a:rPr>
              <a:t>コスト削減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566160"/>
            <a:ext cx="5120640" cy="960120"/>
          </a:xfrm>
          <a:prstGeom prst="rect">
            <a:avLst/>
          </a:prstGeom>
          <a:solidFill>
            <a:srgbClr val="F2F4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04288" y="3675888"/>
            <a:ext cx="4937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自社ベンダーシステムの保守費用を削減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3566160"/>
            <a:ext cx="4389120" cy="960120"/>
          </a:xfrm>
          <a:prstGeom prst="rect">
            <a:avLst/>
          </a:prstGeom>
          <a:solidFill>
            <a:srgbClr val="F2F4F8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8" y="3675888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段階的移行後に廃止することで維持コストをゼロに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26280"/>
            <a:ext cx="1737360" cy="9601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800600"/>
            <a:ext cx="1463040" cy="411480"/>
          </a:xfrm>
          <a:prstGeom prst="rect">
            <a:avLst/>
          </a:prstGeom>
          <a:solidFill>
            <a:srgbClr val="FEF9E7"/>
          </a:solidFill>
          <a:ln>
            <a:solidFill>
              <a:srgbClr val="B777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B7770D"/>
                </a:solidFill>
                <a:latin typeface="游ゴシック"/>
              </a:rPr>
              <a:t>即時性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94560" y="4526280"/>
            <a:ext cx="5120640" cy="9601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04288" y="4636008"/>
            <a:ext cx="4937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管理者がリアルタイムで作業進捗を把握可能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4526280"/>
            <a:ext cx="4389120" cy="960120"/>
          </a:xfrm>
          <a:prstGeom prst="rect">
            <a:avLst/>
          </a:prstGeom>
          <a:solidFill>
            <a:srgbClr val="FFFFFF"/>
          </a:solidFill>
          <a:ln w="317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4636008"/>
            <a:ext cx="4206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游ゴシック"/>
              </a:rPr>
              <a:t>集計・確認のための問い合わせ工数も削減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游ゴシック"/>
              </a:rPr>
              <a:t>※ 試算は1人5〜10分/日 × 200名 × 250日で算出。実際の削減効果は試験運用にて計測予定。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</a:rPr>
              <a:t>４．既存システムとの関係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4937760" cy="4206240"/>
          </a:xfrm>
          <a:prstGeom prst="rect">
            <a:avLst/>
          </a:prstGeom>
          <a:solidFill>
            <a:srgbClr val="F2F4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4937760" cy="502920"/>
          </a:xfrm>
          <a:prstGeom prst="rect">
            <a:avLst/>
          </a:prstGeom>
          <a:solidFill>
            <a:srgbClr val="777777"/>
          </a:solidFill>
          <a:ln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現状（3システム並存）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255AA"/>
                </a:solidFill>
                <a:latin typeface="游ゴシック"/>
              </a:rPr>
              <a:t>マツダシステム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完成車輸送管理・作業完了報告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77777"/>
                </a:solidFill>
                <a:latin typeface="游ゴシック"/>
              </a:rPr>
              <a:t>自社ベンダーシステム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作業時間管理・作業完了報告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マツダ連携：未実現のまま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4572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96600"/>
                </a:solidFill>
                <a:latin typeface="游ゴシック"/>
              </a:rPr>
              <a:t>紙（点検票・不具合票）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各種記録・報告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200400"/>
            <a:ext cx="1097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1A3A6B"/>
                </a:solidFill>
                <a:latin typeface="游ゴシック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188720"/>
            <a:ext cx="5029200" cy="4206240"/>
          </a:xfrm>
          <a:prstGeom prst="rect">
            <a:avLst/>
          </a:prstGeom>
          <a:solidFill>
            <a:srgbClr val="EAF0FB"/>
          </a:solidFill>
          <a:ln w="127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188720"/>
            <a:ext cx="5029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游ゴシック"/>
              </a:rPr>
              <a:t>移行後（役割を整理）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0" y="178308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874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  <a:latin typeface="游ゴシック"/>
              </a:rPr>
              <a:t>マツダシステム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2860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継続利用（変更なし）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92608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017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3A6B"/>
                </a:solidFill>
                <a:latin typeface="游ゴシック"/>
              </a:rPr>
              <a:t>現場作業管理システム（仮称）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4290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作業時間・完了・不具合を一元管理</a:t>
            </a:r>
          </a:p>
          <a:p>
            <a:pPr algn="l"/>
            <a:r>
              <a:rPr sz="950" b="0">
                <a:solidFill>
                  <a:srgbClr val="333333"/>
                </a:solidFill>
                <a:latin typeface="游ゴシック"/>
              </a:rPr>
              <a:t>自社ベンダーシステムを置き換え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4069080"/>
            <a:ext cx="4663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1605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游ゴシック"/>
              </a:rPr>
              <a:t>紙：廃止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游ゴシック"/>
              </a:rPr>
              <a:t>※ マツダシステムへの報告は従来通り作業者が行う。将来的な自動連携は中長期の検討事項とする。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</a:rPr>
              <a:t>５．導入スケジュール（案）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3716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60604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游ゴシック"/>
              </a:rPr>
              <a:t>〜2026年夏頃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77440"/>
            <a:ext cx="224028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3317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・開発完了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・社内テスト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・インフラ準備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92608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3A6B"/>
                </a:solidFill>
                <a:latin typeface="游ゴシック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0604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游ゴシック"/>
              </a:rPr>
              <a:t>2026年秋頃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377440"/>
            <a:ext cx="224028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3317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・1〜2チームで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　試験運用開始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・現場フィードバック収集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168" y="292608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3A6B"/>
                </a:solidFill>
                <a:latin typeface="游ゴシック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260604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2024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游ゴシック"/>
              </a:rPr>
              <a:t>2026年度内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377440"/>
            <a:ext cx="224028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23317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・全体展開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・紙運用廃止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・効果測定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2926080"/>
            <a:ext cx="457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A3A6B"/>
                </a:solidFill>
                <a:latin typeface="游ゴシック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371600"/>
            <a:ext cx="2606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371600"/>
            <a:ext cx="2606040" cy="50292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游ゴシック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92024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游ゴシック"/>
              </a:rPr>
              <a:t>移行完了後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377440"/>
            <a:ext cx="2240280" cy="1828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468880"/>
            <a:ext cx="23317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・自社ベンダー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　システム廃止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游ゴシック"/>
              </a:rPr>
              <a:t>・保守費用削減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游ゴシック"/>
              </a:rPr>
              <a:t>※ スケジュールは目安。セキュリティ審査・稟議の進行状況により変動あり。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solidFill>
            <a:srgbClr val="1A3A6B"/>
          </a:solidFill>
          <a:ln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游ゴシック"/>
              </a:rPr>
              <a:t>６．ご確認・ご支援のお願い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游ゴシック"/>
              </a:rPr>
              <a:t>本提案の推進にあたり、以下についてご意見・ご支援をいただけますと幸いです。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11247120" cy="1188720"/>
          </a:xfrm>
          <a:prstGeom prst="rect">
            <a:avLst/>
          </a:prstGeom>
          <a:solidFill>
            <a:srgbClr val="FFFBE6"/>
          </a:solidFill>
          <a:ln w="9525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5A00"/>
                </a:solidFill>
                <a:latin typeface="游ゴシック"/>
              </a:rPr>
              <a:t>① 提案の方向性へのご賛同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現状の課題認識と、本システムによる解決方向性についてご意見をいただけますか。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11247120" cy="1188720"/>
          </a:xfrm>
          <a:prstGeom prst="rect">
            <a:avLst/>
          </a:prstGeom>
          <a:solidFill>
            <a:srgbClr val="FFFBE6"/>
          </a:solidFill>
          <a:ln w="9525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5A00"/>
                </a:solidFill>
                <a:latin typeface="游ゴシック"/>
              </a:rPr>
              <a:t>② 試験運用チームのご紹介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ご協力いただける現場チームへのご紹介・ご調整をお願いできますでしょうか。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11247120" cy="1188720"/>
          </a:xfrm>
          <a:prstGeom prst="rect">
            <a:avLst/>
          </a:prstGeom>
          <a:solidFill>
            <a:srgbClr val="FFFBE6"/>
          </a:solidFill>
          <a:ln w="9525">
            <a:solidFill>
              <a:srgbClr val="E8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5A00"/>
                </a:solidFill>
                <a:latin typeface="游ゴシック"/>
              </a:rPr>
              <a:t>③ 社内調整へのご支援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游ゴシック"/>
              </a:rPr>
              <a:t>情報システム部・セキュリティ担当との調整において、後ろ盾としてのご支援をお願いできますでしょうか。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游ゴシック"/>
              </a:rPr>
              <a:t>情報システム部　2026年4月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